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1_0.xml" ContentType="application/vnd.ms-powerpoint.comments+xml"/>
  <Override PartName="/ppt/comments/modernComment_105_6AAF9F42.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1" r:id="rId4"/>
    <p:sldId id="258" r:id="rId5"/>
    <p:sldId id="259" r:id="rId6"/>
    <p:sldId id="260" r:id="rId7"/>
    <p:sldId id="264" r:id="rId8"/>
    <p:sldId id="262" r:id="rId9"/>
    <p:sldId id="263"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714CBEA-22DD-7CD3-663F-BE90C36463EF}" name="Mahafuzul Huq" initials="MH" userId="8c8f90fc6ebc13d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BD6A2B-24DC-4769-A5CF-8E91C6A9E517}" v="511" dt="2025-11-12T15:34:44.0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omments/modernComment_101_0.xml><?xml version="1.0" encoding="utf-8"?>
<p188:cmLst xmlns:a="http://schemas.openxmlformats.org/drawingml/2006/main" xmlns:r="http://schemas.openxmlformats.org/officeDocument/2006/relationships" xmlns:p188="http://schemas.microsoft.com/office/powerpoint/2018/8/main">
  <p188:cm id="{073E4DEF-5AA7-4B29-AEA6-AEAFA33B875B}" authorId="{0714CBEA-22DD-7CD3-663F-BE90C36463EF}" created="2025-11-12T14:50:43.707">
    <pc:sldMkLst xmlns:pc="http://schemas.microsoft.com/office/powerpoint/2013/main/command">
      <pc:docMk/>
      <pc:sldMk cId="0" sldId="257"/>
    </pc:sldMkLst>
    <p188:txBody>
      <a:bodyPr/>
      <a:lstStyle/>
      <a:p>
        <a:r>
          <a:rPr lang="en-US"/>
          <a:t>Short Description:
A campaign management dashboard showing voter and volunteer metrics. The display tracks key election data including 442,508 voters, 154 vote centers, 201 supervisors, 511 volunteers, and 511 booths, with checkboxes indicating completion status for various operational targets.</a:t>
        </a:r>
      </a:p>
    </p188:txBody>
  </p188:cm>
</p188:cmLst>
</file>

<file path=ppt/comments/modernComment_105_6AAF9F42.xml><?xml version="1.0" encoding="utf-8"?>
<p188:cmLst xmlns:a="http://schemas.openxmlformats.org/drawingml/2006/main" xmlns:r="http://schemas.openxmlformats.org/officeDocument/2006/relationships" xmlns:p188="http://schemas.microsoft.com/office/powerpoint/2018/8/main">
  <p188:cm id="{51B309A5-064D-4210-B9DC-4BD0A40FF7EC}" authorId="{0714CBEA-22DD-7CD3-663F-BE90C36463EF}" created="2025-11-12T14:51:20.349">
    <pc:sldMkLst xmlns:pc="http://schemas.microsoft.com/office/powerpoint/2013/main/command">
      <pc:docMk/>
      <pc:sldMk cId="1789894466" sldId="261"/>
    </pc:sldMkLst>
    <p188:txBody>
      <a:bodyPr/>
      <a:lstStyle/>
      <a:p>
        <a:r>
          <a:rPr lang="en-US"/>
          <a:t>Short Description:
A campaign management dashboard showing voter and volunteer metrics. The display tracks key election data including 442,508 voters, 154 vote centers, 201 supervisors, 511 volunteers, and 511 booths, with checkboxes indicating completion status for various operational targets.</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01_0.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microsoft.com/office/2018/10/relationships/comments" Target="../comments/modernComment_105_6AAF9F4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Election Campaign Management</a:t>
            </a:r>
          </a:p>
        </p:txBody>
      </p:sp>
      <p:sp>
        <p:nvSpPr>
          <p:cNvPr id="3" name="Subtitle 2"/>
          <p:cNvSpPr>
            <a:spLocks noGrp="1"/>
          </p:cNvSpPr>
          <p:nvPr>
            <p:ph type="subTitle" idx="1"/>
          </p:nvPr>
        </p:nvSpPr>
        <p:spPr/>
        <p:txBody>
          <a:bodyPr/>
          <a:lstStyle/>
          <a:p>
            <a:r>
              <a:rPr dirty="0"/>
              <a:t>Comprehensive Strategy Presentation</a:t>
            </a:r>
            <a:endParaRPr lang="en-US" dirty="0"/>
          </a:p>
          <a:p>
            <a:pPr algn="r"/>
            <a:r>
              <a:rPr lang="as-IN" sz="1400" b="1" dirty="0"/>
              <a:t>জনগণের সেবা, উন্নয়নের অঙ্গীকার</a:t>
            </a:r>
            <a:endParaRPr sz="1400" dirty="0"/>
          </a:p>
        </p:txBody>
      </p:sp>
      <p:pic>
        <p:nvPicPr>
          <p:cNvPr id="5" name="Picture 4">
            <a:extLst>
              <a:ext uri="{FF2B5EF4-FFF2-40B4-BE49-F238E27FC236}">
                <a16:creationId xmlns:a16="http://schemas.microsoft.com/office/drawing/2014/main" id="{A2F66BF6-0465-65DF-1563-0EA7571FC713}"/>
              </a:ext>
            </a:extLst>
          </p:cNvPr>
          <p:cNvPicPr>
            <a:picLocks noChangeAspect="1"/>
          </p:cNvPicPr>
          <p:nvPr/>
        </p:nvPicPr>
        <p:blipFill>
          <a:blip r:embed="rId2"/>
          <a:stretch>
            <a:fillRect/>
          </a:stretch>
        </p:blipFill>
        <p:spPr>
          <a:xfrm>
            <a:off x="3529203" y="683323"/>
            <a:ext cx="1847850" cy="17240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4" name="Arc 43">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6100024" y="863980"/>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extBox 1"/>
          <p:cNvSpPr txBox="1"/>
          <p:nvPr/>
        </p:nvSpPr>
        <p:spPr>
          <a:xfrm>
            <a:off x="4421221" y="479493"/>
            <a:ext cx="4094129" cy="1325563"/>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endParaRPr lang="en-US" sz="2800" kern="1200">
              <a:solidFill>
                <a:schemeClr val="tx1"/>
              </a:solidFill>
              <a:latin typeface="+mj-lt"/>
              <a:ea typeface="+mj-ea"/>
              <a:cs typeface="+mj-cs"/>
            </a:endParaRPr>
          </a:p>
          <a:p>
            <a:pPr defTabSz="914400">
              <a:lnSpc>
                <a:spcPct val="90000"/>
              </a:lnSpc>
              <a:spcBef>
                <a:spcPct val="0"/>
              </a:spcBef>
              <a:spcAft>
                <a:spcPts val="600"/>
              </a:spcAft>
              <a:defRPr sz="3600" b="1">
                <a:solidFill>
                  <a:srgbClr val="003366"/>
                </a:solidFill>
              </a:defRPr>
            </a:pPr>
            <a:r>
              <a:rPr lang="en-US" sz="2800" kern="1200">
                <a:solidFill>
                  <a:schemeClr val="tx1"/>
                </a:solidFill>
                <a:latin typeface="+mj-lt"/>
                <a:ea typeface="+mj-ea"/>
                <a:cs typeface="+mj-cs"/>
              </a:rPr>
              <a:t>Election Campaign Overview</a:t>
            </a:r>
          </a:p>
        </p:txBody>
      </p:sp>
      <p:sp>
        <p:nvSpPr>
          <p:cNvPr id="45" name="Freeform: Shape 4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004647"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2" name="Graphic 11" descr="Marketing">
            <a:extLst>
              <a:ext uri="{FF2B5EF4-FFF2-40B4-BE49-F238E27FC236}">
                <a16:creationId xmlns:a16="http://schemas.microsoft.com/office/drawing/2014/main" id="{5A7D2B9D-53F9-7D13-3E96-F2E3AA45522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7386" y="1552610"/>
            <a:ext cx="3583036" cy="3583036"/>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4" name="TextBox 3">
            <a:extLst>
              <a:ext uri="{FF2B5EF4-FFF2-40B4-BE49-F238E27FC236}">
                <a16:creationId xmlns:a16="http://schemas.microsoft.com/office/drawing/2014/main" id="{26C743B6-314A-A3A5-B1E7-125591FED745}"/>
              </a:ext>
            </a:extLst>
          </p:cNvPr>
          <p:cNvSpPr txBox="1"/>
          <p:nvPr/>
        </p:nvSpPr>
        <p:spPr>
          <a:xfrm>
            <a:off x="4421221" y="1984443"/>
            <a:ext cx="4094129" cy="419252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indent="-228600" defTabSz="914400">
              <a:lnSpc>
                <a:spcPct val="90000"/>
              </a:lnSpc>
              <a:spcAft>
                <a:spcPts val="600"/>
              </a:spcAft>
              <a:buFont typeface="Arial" panose="020B0604020202020204" pitchFamily="34" charset="0"/>
              <a:buChar char="•"/>
            </a:pPr>
            <a:endParaRPr lang="en-US"/>
          </a:p>
          <a:p>
            <a:pPr indent="-228600" defTabSz="914400">
              <a:lnSpc>
                <a:spcPct val="90000"/>
              </a:lnSpc>
              <a:spcAft>
                <a:spcPts val="600"/>
              </a:spcAft>
              <a:buFont typeface="Arial" panose="020B0604020202020204" pitchFamily="34" charset="0"/>
              <a:buChar char="•"/>
            </a:pPr>
            <a:r>
              <a:rPr lang="en-US" b="1"/>
              <a:t>Vision:</a:t>
            </a:r>
          </a:p>
          <a:p>
            <a:pPr indent="-228600" defTabSz="914400">
              <a:lnSpc>
                <a:spcPct val="90000"/>
              </a:lnSpc>
              <a:spcAft>
                <a:spcPts val="600"/>
              </a:spcAft>
              <a:buFont typeface="Arial" panose="020B0604020202020204" pitchFamily="34" charset="0"/>
              <a:buChar char="•"/>
            </a:pPr>
            <a:r>
              <a:rPr lang="en-US"/>
              <a:t>- Building Prosperity through People’s Participation</a:t>
            </a:r>
          </a:p>
          <a:p>
            <a:pPr indent="-228600" defTabSz="914400">
              <a:lnSpc>
                <a:spcPct val="90000"/>
              </a:lnSpc>
              <a:spcAft>
                <a:spcPts val="600"/>
              </a:spcAft>
              <a:buFont typeface="Arial" panose="020B0604020202020204" pitchFamily="34" charset="0"/>
              <a:buChar char="•"/>
            </a:pPr>
            <a:endParaRPr lang="en-US"/>
          </a:p>
          <a:p>
            <a:pPr indent="-228600" defTabSz="914400">
              <a:lnSpc>
                <a:spcPct val="90000"/>
              </a:lnSpc>
              <a:spcAft>
                <a:spcPts val="600"/>
              </a:spcAft>
              <a:buFont typeface="Arial" panose="020B0604020202020204" pitchFamily="34" charset="0"/>
              <a:buChar char="•"/>
            </a:pPr>
            <a:r>
              <a:rPr lang="en-US" b="1"/>
              <a:t>Mission:</a:t>
            </a:r>
          </a:p>
          <a:p>
            <a:pPr indent="-228600" defTabSz="914400">
              <a:lnSpc>
                <a:spcPct val="90000"/>
              </a:lnSpc>
              <a:spcAft>
                <a:spcPts val="600"/>
              </a:spcAft>
              <a:buFont typeface="Arial" panose="020B0604020202020204" pitchFamily="34" charset="0"/>
              <a:buChar char="•"/>
            </a:pPr>
            <a:r>
              <a:rPr lang="en-US"/>
              <a:t>- Empowering communities through active participation  </a:t>
            </a:r>
          </a:p>
          <a:p>
            <a:pPr indent="-228600" defTabSz="914400">
              <a:lnSpc>
                <a:spcPct val="90000"/>
              </a:lnSpc>
              <a:spcAft>
                <a:spcPts val="600"/>
              </a:spcAft>
              <a:buFont typeface="Arial" panose="020B0604020202020204" pitchFamily="34" charset="0"/>
              <a:buChar char="•"/>
            </a:pPr>
            <a:r>
              <a:rPr lang="en-US"/>
              <a:t>- Promoting inclusive economic growth  </a:t>
            </a:r>
          </a:p>
          <a:p>
            <a:pPr indent="-228600" defTabSz="914400">
              <a:lnSpc>
                <a:spcPct val="90000"/>
              </a:lnSpc>
              <a:spcAft>
                <a:spcPts val="600"/>
              </a:spcAft>
              <a:buFont typeface="Arial" panose="020B0604020202020204" pitchFamily="34" charset="0"/>
              <a:buChar char="•"/>
            </a:pPr>
            <a:r>
              <a:rPr lang="en-US"/>
              <a:t>- Enhancing transparency and accountability in governance</a:t>
            </a:r>
          </a:p>
        </p:txBody>
      </p:sp>
    </p:spTree>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318CBC-F399-186F-A535-7BAE8AA728DE}"/>
            </a:ext>
          </a:extLst>
        </p:cNvPr>
        <p:cNvGrpSpPr/>
        <p:nvPr/>
      </p:nvGrpSpPr>
      <p:grpSpPr>
        <a:xfrm>
          <a:off x="0" y="0"/>
          <a:ext cx="0" cy="0"/>
          <a:chOff x="0" y="0"/>
          <a:chExt cx="0" cy="0"/>
        </a:xfrm>
      </p:grpSpPr>
      <p:sp>
        <p:nvSpPr>
          <p:cNvPr id="8"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83356" y="1928731"/>
            <a:ext cx="3333749" cy="2624327"/>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A9DD0B4-95FF-0D8A-AF50-1FB951841319}"/>
              </a:ext>
            </a:extLst>
          </p:cNvPr>
          <p:cNvSpPr txBox="1"/>
          <p:nvPr/>
        </p:nvSpPr>
        <p:spPr>
          <a:xfrm>
            <a:off x="771525" y="1967266"/>
            <a:ext cx="1971675" cy="2547257"/>
          </a:xfrm>
          <a:prstGeom prst="rect">
            <a:avLst/>
          </a:prstGeom>
          <a:noFill/>
        </p:spPr>
        <p:txBody>
          <a:bodyPr vert="horz" lIns="91440" tIns="45720" rIns="91440" bIns="45720" rtlCol="0" anchor="ctr">
            <a:normAutofit/>
          </a:bodyPr>
          <a:lstStyle/>
          <a:p>
            <a:pPr algn="ctr" defTabSz="914400">
              <a:lnSpc>
                <a:spcPct val="90000"/>
              </a:lnSpc>
              <a:spcBef>
                <a:spcPct val="0"/>
              </a:spcBef>
              <a:spcAft>
                <a:spcPts val="600"/>
              </a:spcAft>
            </a:pPr>
            <a:endParaRPr lang="en-US" sz="3100" kern="1200">
              <a:solidFill>
                <a:srgbClr val="FFFFFF"/>
              </a:solidFill>
              <a:latin typeface="+mj-lt"/>
              <a:ea typeface="+mj-ea"/>
              <a:cs typeface="+mj-cs"/>
            </a:endParaRPr>
          </a:p>
          <a:p>
            <a:pPr algn="ctr" defTabSz="914400">
              <a:lnSpc>
                <a:spcPct val="90000"/>
              </a:lnSpc>
              <a:spcBef>
                <a:spcPct val="0"/>
              </a:spcBef>
              <a:spcAft>
                <a:spcPts val="600"/>
              </a:spcAft>
              <a:defRPr sz="3600" b="1">
                <a:solidFill>
                  <a:srgbClr val="003366"/>
                </a:solidFill>
              </a:defRPr>
            </a:pPr>
            <a:r>
              <a:rPr lang="en-US" sz="2400" kern="1200" dirty="0">
                <a:solidFill>
                  <a:srgbClr val="FFFFFF"/>
                </a:solidFill>
                <a:latin typeface="+mj-lt"/>
                <a:ea typeface="+mj-ea"/>
                <a:cs typeface="+mj-cs"/>
              </a:rPr>
              <a:t>Dashboard </a:t>
            </a:r>
            <a:endParaRPr lang="en-US" sz="2400" dirty="0">
              <a:solidFill>
                <a:srgbClr val="FFFFFF"/>
              </a:solidFill>
              <a:latin typeface="+mj-lt"/>
              <a:ea typeface="+mj-ea"/>
              <a:cs typeface="+mj-cs"/>
            </a:endParaRPr>
          </a:p>
          <a:p>
            <a:pPr algn="ctr" defTabSz="914400">
              <a:lnSpc>
                <a:spcPct val="90000"/>
              </a:lnSpc>
              <a:spcBef>
                <a:spcPct val="0"/>
              </a:spcBef>
              <a:spcAft>
                <a:spcPts val="600"/>
              </a:spcAft>
              <a:defRPr sz="3600" b="1">
                <a:solidFill>
                  <a:srgbClr val="003366"/>
                </a:solidFill>
              </a:defRPr>
            </a:pPr>
            <a:r>
              <a:rPr lang="en-US" sz="2400" kern="1200" dirty="0">
                <a:solidFill>
                  <a:srgbClr val="FFFFFF"/>
                </a:solidFill>
                <a:latin typeface="+mj-lt"/>
                <a:ea typeface="+mj-ea"/>
                <a:cs typeface="+mj-cs"/>
              </a:rPr>
              <a:t>&amp; </a:t>
            </a:r>
            <a:endParaRPr lang="en-US" sz="2400" dirty="0">
              <a:solidFill>
                <a:srgbClr val="FFFFFF"/>
              </a:solidFill>
              <a:latin typeface="+mj-lt"/>
              <a:ea typeface="+mj-ea"/>
              <a:cs typeface="+mj-cs"/>
            </a:endParaRPr>
          </a:p>
          <a:p>
            <a:pPr algn="ctr" defTabSz="914400">
              <a:lnSpc>
                <a:spcPct val="90000"/>
              </a:lnSpc>
              <a:spcBef>
                <a:spcPct val="0"/>
              </a:spcBef>
              <a:spcAft>
                <a:spcPts val="600"/>
              </a:spcAft>
              <a:defRPr sz="3600" b="1">
                <a:solidFill>
                  <a:srgbClr val="003366"/>
                </a:solidFill>
              </a:defRPr>
            </a:pPr>
            <a:r>
              <a:rPr lang="en-US" sz="2400" kern="1200" dirty="0">
                <a:solidFill>
                  <a:srgbClr val="FFFFFF"/>
                </a:solidFill>
                <a:latin typeface="+mj-lt"/>
                <a:ea typeface="+mj-ea"/>
                <a:cs typeface="+mj-cs"/>
              </a:rPr>
              <a:t>Campaign Analysis</a:t>
            </a:r>
            <a:endParaRPr lang="en-US" sz="2400" kern="1200">
              <a:solidFill>
                <a:srgbClr val="FFFFFF"/>
              </a:solidFill>
              <a:latin typeface="+mj-lt"/>
              <a:ea typeface="Calibri"/>
              <a:cs typeface="Calibri"/>
            </a:endParaRPr>
          </a:p>
        </p:txBody>
      </p:sp>
      <p:pic>
        <p:nvPicPr>
          <p:cNvPr id="3" name="Picture 2" descr="A person giving a thumbs up&#10;&#10;AI-generated content may be incorrect.">
            <a:extLst>
              <a:ext uri="{FF2B5EF4-FFF2-40B4-BE49-F238E27FC236}">
                <a16:creationId xmlns:a16="http://schemas.microsoft.com/office/drawing/2014/main" id="{C9B40579-2A2B-6D6B-1DB4-AA8B77366E5E}"/>
              </a:ext>
            </a:extLst>
          </p:cNvPr>
          <p:cNvPicPr>
            <a:picLocks noChangeAspect="1"/>
          </p:cNvPicPr>
          <p:nvPr/>
        </p:nvPicPr>
        <p:blipFill>
          <a:blip r:embed="rId3"/>
          <a:stretch>
            <a:fillRect/>
          </a:stretch>
        </p:blipFill>
        <p:spPr>
          <a:xfrm>
            <a:off x="3582987" y="1579690"/>
            <a:ext cx="5085525" cy="3545439"/>
          </a:xfrm>
          <a:prstGeom prst="rect">
            <a:avLst/>
          </a:prstGeom>
        </p:spPr>
      </p:pic>
      <p:sp>
        <p:nvSpPr>
          <p:cNvPr id="9" name="TextBox 8">
            <a:extLst>
              <a:ext uri="{FF2B5EF4-FFF2-40B4-BE49-F238E27FC236}">
                <a16:creationId xmlns:a16="http://schemas.microsoft.com/office/drawing/2014/main" id="{9EC24F30-82FC-84DF-9B02-BD028D5282A6}"/>
              </a:ext>
            </a:extLst>
          </p:cNvPr>
          <p:cNvSpPr txBox="1"/>
          <p:nvPr/>
        </p:nvSpPr>
        <p:spPr>
          <a:xfrm>
            <a:off x="406143" y="5274046"/>
            <a:ext cx="826209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dirty="0">
                <a:latin typeface="Calibri"/>
                <a:ea typeface="Segoe UI"/>
                <a:cs typeface="Segoe UI"/>
              </a:rPr>
              <a:t>​</a:t>
            </a:r>
            <a:r>
              <a:rPr lang="en-US" b="1" i="1" dirty="0">
                <a:ea typeface="+mn-lt"/>
                <a:cs typeface="+mn-lt"/>
              </a:rPr>
              <a:t>A campaign management dashboard showing voter and volunteer metrics. The display tracks key election data including 442,508 voters, 154 vote centers, 201 supervisors, 511 volunteers, and 511 booths, with checkboxes indicating completion status for various operational targets.</a:t>
            </a:r>
            <a:endParaRPr lang="en-US" i="1">
              <a:ea typeface="Calibri"/>
              <a:cs typeface="Calibri"/>
            </a:endParaRPr>
          </a:p>
        </p:txBody>
      </p:sp>
    </p:spTree>
    <p:extLst>
      <p:ext uri="{BB962C8B-B14F-4D97-AF65-F5344CB8AC3E}">
        <p14:creationId xmlns:p14="http://schemas.microsoft.com/office/powerpoint/2010/main" val="1789894466"/>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Union.jpg"/>
          <p:cNvPicPr>
            <a:picLocks noChangeAspect="1"/>
          </p:cNvPicPr>
          <p:nvPr/>
        </p:nvPicPr>
        <p:blipFill>
          <a:blip r:embed="rId2"/>
          <a:srcRect l="9611" t="9091" r="14026" b="1"/>
          <a:stretch>
            <a:fillRect/>
          </a:stretch>
        </p:blipFill>
        <p:spPr>
          <a:xfrm>
            <a:off x="20" y="10"/>
            <a:ext cx="9143980" cy="6857990"/>
          </a:xfrm>
          <a:prstGeom prst="rect">
            <a:avLst/>
          </a:prstGeom>
        </p:spPr>
      </p:pic>
      <p:sp>
        <p:nvSpPr>
          <p:cNvPr id="25" name="Rectangle 24">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275865" y="-511"/>
            <a:ext cx="4592270" cy="9144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303414" y="3718547"/>
            <a:ext cx="6808922" cy="1760981"/>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endParaRPr lang="en-US" sz="5300">
              <a:solidFill>
                <a:schemeClr val="bg1"/>
              </a:solidFill>
              <a:latin typeface="+mj-lt"/>
              <a:ea typeface="+mj-ea"/>
              <a:cs typeface="+mj-cs"/>
            </a:endParaRPr>
          </a:p>
          <a:p>
            <a:pPr defTabSz="914400">
              <a:lnSpc>
                <a:spcPct val="90000"/>
              </a:lnSpc>
              <a:spcBef>
                <a:spcPct val="0"/>
              </a:spcBef>
              <a:spcAft>
                <a:spcPts val="600"/>
              </a:spcAft>
              <a:defRPr sz="3600" b="1">
                <a:solidFill>
                  <a:srgbClr val="003366"/>
                </a:solidFill>
              </a:defRPr>
            </a:pPr>
            <a:r>
              <a:rPr lang="en-US" sz="3600" dirty="0">
                <a:solidFill>
                  <a:schemeClr val="bg1"/>
                </a:solidFill>
                <a:latin typeface="+mj-lt"/>
                <a:ea typeface="+mj-ea"/>
                <a:cs typeface="+mj-cs"/>
              </a:rPr>
              <a:t>Union Wise Voter Distribution</a:t>
            </a:r>
            <a:endParaRPr lang="en-US" sz="3600" dirty="0">
              <a:solidFill>
                <a:schemeClr val="bg1"/>
              </a:solidFill>
              <a:latin typeface="+mj-lt"/>
              <a:ea typeface="Calibri"/>
              <a:cs typeface="Calibri"/>
            </a:endParaRPr>
          </a:p>
        </p:txBody>
      </p:sp>
      <p:sp>
        <p:nvSpPr>
          <p:cNvPr id="23" name="Rectangle: Rounded Corners 22">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7339422"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C238D25-BCD7-1698-5E4D-D741E013C2C5}"/>
              </a:ext>
            </a:extLst>
          </p:cNvPr>
          <p:cNvSpPr txBox="1"/>
          <p:nvPr/>
        </p:nvSpPr>
        <p:spPr>
          <a:xfrm>
            <a:off x="-81227" y="5378483"/>
            <a:ext cx="9306454"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i="1" dirty="0">
                <a:solidFill>
                  <a:schemeClr val="bg1"/>
                </a:solidFill>
              </a:rPr>
              <a:t>A task management interface titled "IMS Blown! Dark" with a dark theme. The dashboard is divided into sections for Management (Preferences, Handbooks, Texts, Videos) and Priority tasks (Harm &amp; Calls, OST, Home &amp; Audits, etc.). It includes repetitive task entries and a section labeled "Task funding" with fragmented or placeholder text (e.g., "Weave," "She," "thanks"). The layout uses checkboxes for task tracking and horizontal dividers to separate categories.</a:t>
            </a:r>
            <a:endParaRPr lang="en-US" i="1">
              <a:solidFill>
                <a:schemeClr val="bg1"/>
              </a:solidFill>
              <a:ea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Union Wise Age Group.jpg"/>
          <p:cNvPicPr>
            <a:picLocks noChangeAspect="1"/>
          </p:cNvPicPr>
          <p:nvPr/>
        </p:nvPicPr>
        <p:blipFill>
          <a:blip r:embed="rId2"/>
          <a:srcRect l="15079" r="18298" b="-1"/>
          <a:stretch>
            <a:fillRect/>
          </a:stretch>
        </p:blipFill>
        <p:spPr>
          <a:xfrm>
            <a:off x="20" y="10"/>
            <a:ext cx="7252212" cy="6857990"/>
          </a:xfrm>
          <a:prstGeom prst="rect">
            <a:avLst/>
          </a:prstGeom>
        </p:spPr>
      </p:pic>
      <p:sp>
        <p:nvSpPr>
          <p:cNvPr id="13" name="Rectangle 12">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843764" y="0"/>
            <a:ext cx="530023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5951551" y="186453"/>
            <a:ext cx="3013674" cy="825825"/>
          </a:xfrm>
          <a:prstGeom prst="rect">
            <a:avLst/>
          </a:prstGeom>
          <a:noFill/>
        </p:spPr>
        <p:txBody>
          <a:bodyPr vert="horz" lIns="91440" tIns="45720" rIns="91440" bIns="45720" rtlCol="0" anchor="b">
            <a:noAutofit/>
          </a:bodyPr>
          <a:lstStyle/>
          <a:p>
            <a:pPr defTabSz="914400">
              <a:lnSpc>
                <a:spcPct val="90000"/>
              </a:lnSpc>
              <a:spcBef>
                <a:spcPct val="0"/>
              </a:spcBef>
              <a:spcAft>
                <a:spcPts val="600"/>
              </a:spcAft>
            </a:pPr>
            <a:endParaRPr lang="en-US" sz="2400" dirty="0">
              <a:latin typeface="+mj-lt"/>
              <a:ea typeface="Calibri"/>
              <a:cs typeface="Calibri"/>
            </a:endParaRPr>
          </a:p>
          <a:p>
            <a:pPr algn="ctr" defTabSz="914400">
              <a:lnSpc>
                <a:spcPct val="90000"/>
              </a:lnSpc>
              <a:spcBef>
                <a:spcPct val="0"/>
              </a:spcBef>
              <a:spcAft>
                <a:spcPts val="600"/>
              </a:spcAft>
              <a:defRPr sz="3600" b="1">
                <a:solidFill>
                  <a:srgbClr val="003366"/>
                </a:solidFill>
              </a:defRPr>
            </a:pPr>
            <a:r>
              <a:rPr lang="en-US" sz="2400" dirty="0">
                <a:latin typeface="+mj-lt"/>
                <a:ea typeface="+mj-ea"/>
                <a:cs typeface="+mj-cs"/>
              </a:rPr>
              <a:t>Union Wise Age Group Analysis</a:t>
            </a:r>
            <a:endParaRPr lang="en-US" sz="2400" dirty="0">
              <a:latin typeface="+mj-lt"/>
              <a:ea typeface="Calibri"/>
              <a:cs typeface="Calibri"/>
            </a:endParaRPr>
          </a:p>
        </p:txBody>
      </p:sp>
      <p:sp>
        <p:nvSpPr>
          <p:cNvPr id="5" name="TextBox 6">
            <a:extLst>
              <a:ext uri="{FF2B5EF4-FFF2-40B4-BE49-F238E27FC236}">
                <a16:creationId xmlns:a16="http://schemas.microsoft.com/office/drawing/2014/main" id="{0DBFCF13-2E00-B39F-98D4-8871C162936D}"/>
              </a:ext>
            </a:extLst>
          </p:cNvPr>
          <p:cNvSpPr txBox="1"/>
          <p:nvPr/>
        </p:nvSpPr>
        <p:spPr>
          <a:xfrm>
            <a:off x="6277797" y="2059720"/>
            <a:ext cx="2692142" cy="313932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solidFill>
                  <a:srgbClr val="000000"/>
                </a:solidFill>
                <a:ea typeface="+mn-lt"/>
                <a:cs typeface="+mn-lt"/>
              </a:rPr>
              <a:t>A demographic and geographic data dashboard titled "Union" displaying age distribution statistics for a population. The top section shows three age groups with percentages: Young Aged (18-39): 45.05%, Middle Aged (40-59): 37.85%, and Old Aged (60-80): 17.10%.</a:t>
            </a:r>
            <a:endParaRPr lang="en-US" dirty="0">
              <a:ea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64BD02-E820-A31D-238C-75FB948E16CF}"/>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BC1C3BB8-69FD-F64D-C009-A5BBBE6AD4DF}"/>
              </a:ext>
            </a:extLst>
          </p:cNvPr>
          <p:cNvPicPr>
            <a:picLocks noChangeAspect="1"/>
          </p:cNvPicPr>
          <p:nvPr/>
        </p:nvPicPr>
        <p:blipFill>
          <a:blip r:embed="rId2"/>
          <a:srcRect l="10398" r="26153"/>
          <a:stretch>
            <a:fillRect/>
          </a:stretch>
        </p:blipFill>
        <p:spPr>
          <a:xfrm>
            <a:off x="1891768" y="10"/>
            <a:ext cx="7252232" cy="6857990"/>
          </a:xfrm>
          <a:prstGeom prst="rect">
            <a:avLst/>
          </a:prstGeom>
        </p:spPr>
      </p:pic>
      <p:sp>
        <p:nvSpPr>
          <p:cNvPr id="22" name="Rectangle 21">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30023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5C1F4D24-5F09-4D85-193A-24F5E1B5B3AB}"/>
              </a:ext>
            </a:extLst>
          </p:cNvPr>
          <p:cNvSpPr txBox="1"/>
          <p:nvPr/>
        </p:nvSpPr>
        <p:spPr>
          <a:xfrm>
            <a:off x="145573" y="314097"/>
            <a:ext cx="3165702" cy="1023094"/>
          </a:xfrm>
          <a:prstGeom prst="rect">
            <a:avLst/>
          </a:prstGeom>
          <a:noFill/>
        </p:spPr>
        <p:txBody>
          <a:bodyPr vert="horz" lIns="91440" tIns="45720" rIns="91440" bIns="45720" rtlCol="0" anchor="b">
            <a:normAutofit lnSpcReduction="10000"/>
          </a:bodyPr>
          <a:lstStyle/>
          <a:p>
            <a:pPr defTabSz="914400">
              <a:lnSpc>
                <a:spcPct val="90000"/>
              </a:lnSpc>
              <a:spcBef>
                <a:spcPct val="0"/>
              </a:spcBef>
              <a:spcAft>
                <a:spcPts val="600"/>
              </a:spcAft>
              <a:defRPr sz="3600" b="1">
                <a:solidFill>
                  <a:srgbClr val="003366"/>
                </a:solidFill>
              </a:defRPr>
            </a:pPr>
            <a:r>
              <a:rPr lang="en-US" sz="4500" dirty="0">
                <a:latin typeface="+mj-lt"/>
                <a:ea typeface="+mj-ea"/>
                <a:cs typeface="+mj-cs"/>
              </a:rPr>
              <a:t> </a:t>
            </a:r>
            <a:r>
              <a:rPr lang="en-US" sz="2800" dirty="0">
                <a:latin typeface="+mj-lt"/>
                <a:ea typeface="+mj-ea"/>
                <a:cs typeface="+mj-cs"/>
              </a:rPr>
              <a:t>Center Wise Total Vote Analysis</a:t>
            </a:r>
            <a:endParaRPr lang="en-US" sz="2800" dirty="0">
              <a:latin typeface="+mj-lt"/>
              <a:ea typeface="Calibri"/>
              <a:cs typeface="Calibri"/>
            </a:endParaRPr>
          </a:p>
        </p:txBody>
      </p:sp>
      <p:sp>
        <p:nvSpPr>
          <p:cNvPr id="6" name="TextBox 5">
            <a:extLst>
              <a:ext uri="{FF2B5EF4-FFF2-40B4-BE49-F238E27FC236}">
                <a16:creationId xmlns:a16="http://schemas.microsoft.com/office/drawing/2014/main" id="{7753FEC2-5B51-8F77-E6F7-57E84854CF25}"/>
              </a:ext>
            </a:extLst>
          </p:cNvPr>
          <p:cNvSpPr txBox="1"/>
          <p:nvPr/>
        </p:nvSpPr>
        <p:spPr>
          <a:xfrm>
            <a:off x="150853" y="1340269"/>
            <a:ext cx="3051868"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000000"/>
                </a:solidFill>
                <a:ea typeface="+mn-lt"/>
                <a:cs typeface="+mn-lt"/>
              </a:rPr>
              <a:t>A technical monitoring dashboard displaying encoded system metrics. The interface shows with multiple data strands and figures, featuring three main data streams labeled with respective numerical IDs (2118, 1034, 1084). The dashboard includes a detailed 3D figure analysis section and a system compliance status marked as  indicating a specialized data monitoring or quality control system. </a:t>
            </a:r>
            <a:endParaRPr lang="en-US" dirty="0"/>
          </a:p>
        </p:txBody>
      </p:sp>
    </p:spTree>
    <p:extLst>
      <p:ext uri="{BB962C8B-B14F-4D97-AF65-F5344CB8AC3E}">
        <p14:creationId xmlns:p14="http://schemas.microsoft.com/office/powerpoint/2010/main" val="2648853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38BAE2-F9D3-FA0C-35FC-EF9742E07768}"/>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omputer screen with text on it&#10;&#10;AI-generated content may be incorrect.">
            <a:extLst>
              <a:ext uri="{FF2B5EF4-FFF2-40B4-BE49-F238E27FC236}">
                <a16:creationId xmlns:a16="http://schemas.microsoft.com/office/drawing/2014/main" id="{9735D4B9-6633-F222-2EA4-432BFC1B2C29}"/>
              </a:ext>
            </a:extLst>
          </p:cNvPr>
          <p:cNvPicPr>
            <a:picLocks noChangeAspect="1"/>
          </p:cNvPicPr>
          <p:nvPr/>
        </p:nvPicPr>
        <p:blipFill>
          <a:blip r:embed="rId2"/>
          <a:srcRect r="3" b="5438"/>
          <a:stretch>
            <a:fillRect/>
          </a:stretch>
        </p:blipFill>
        <p:spPr>
          <a:xfrm>
            <a:off x="20" y="10"/>
            <a:ext cx="7252212" cy="6857990"/>
          </a:xfrm>
          <a:prstGeom prst="rect">
            <a:avLst/>
          </a:prstGeom>
        </p:spPr>
      </p:pic>
      <p:sp>
        <p:nvSpPr>
          <p:cNvPr id="16" name="Rectangle 15">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843764" y="0"/>
            <a:ext cx="530023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54BF281F-EA7E-EB19-E1E6-D03007594072}"/>
              </a:ext>
            </a:extLst>
          </p:cNvPr>
          <p:cNvSpPr txBox="1"/>
          <p:nvPr/>
        </p:nvSpPr>
        <p:spPr>
          <a:xfrm>
            <a:off x="5463042" y="183013"/>
            <a:ext cx="3516469" cy="1004204"/>
          </a:xfrm>
          <a:prstGeom prst="rect">
            <a:avLst/>
          </a:prstGeom>
        </p:spPr>
        <p:txBody>
          <a:bodyPr vert="horz" lIns="91440" tIns="45720" rIns="91440" bIns="45720" rtlCol="0" anchor="t">
            <a:normAutofit/>
          </a:bodyPr>
          <a:lstStyle/>
          <a:p>
            <a:pPr indent="-228600" defTabSz="914400">
              <a:lnSpc>
                <a:spcPct val="90000"/>
              </a:lnSpc>
              <a:spcBef>
                <a:spcPct val="0"/>
              </a:spcBef>
              <a:spcAft>
                <a:spcPts val="600"/>
              </a:spcAft>
              <a:buFont typeface="Arial" panose="020B0604020202020204" pitchFamily="34" charset="0"/>
              <a:buChar char="•"/>
              <a:defRPr sz="3600" b="1">
                <a:solidFill>
                  <a:srgbClr val="003366"/>
                </a:solidFill>
              </a:defRPr>
            </a:pPr>
            <a:r>
              <a:rPr lang="en-US" sz="1700" dirty="0"/>
              <a:t>Task Management &amp; Analysis</a:t>
            </a:r>
            <a:endParaRPr lang="en-US" sz="3600" dirty="0">
              <a:ea typeface="Calibri"/>
              <a:cs typeface="Calibri"/>
            </a:endParaRPr>
          </a:p>
        </p:txBody>
      </p:sp>
      <p:sp>
        <p:nvSpPr>
          <p:cNvPr id="8" name="TextBox 6">
            <a:extLst>
              <a:ext uri="{FF2B5EF4-FFF2-40B4-BE49-F238E27FC236}">
                <a16:creationId xmlns:a16="http://schemas.microsoft.com/office/drawing/2014/main" id="{75A38E81-2544-9092-E5C3-74138D5C57BB}"/>
              </a:ext>
            </a:extLst>
          </p:cNvPr>
          <p:cNvSpPr txBox="1"/>
          <p:nvPr/>
        </p:nvSpPr>
        <p:spPr>
          <a:xfrm>
            <a:off x="6277797" y="887710"/>
            <a:ext cx="2703746" cy="563231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i="1" dirty="0">
                <a:solidFill>
                  <a:srgbClr val="000000"/>
                </a:solidFill>
                <a:ea typeface="+mn-lt"/>
                <a:cs typeface="+mn-lt"/>
              </a:rPr>
              <a:t>A task management interface titled "IMS Blown! Dark" with a dark theme. The dashboard is divided into sections for Management (Preferences, Handbooks, Texts, Videos) and Priority tasks (Harm &amp; Calls, OST, Home &amp; Audits, etc.). It includes repetitive task entries and a section labeled "Task funding" with fragmented or placeholder text (e.g., "Weave," "She," "thanks"). The layout uses checkboxes for task tracking and horizontal dividers to separate categories.</a:t>
            </a:r>
            <a:endParaRPr lang="en-US" i="1">
              <a:ea typeface="+mn-lt"/>
              <a:cs typeface="+mn-lt"/>
            </a:endParaRPr>
          </a:p>
        </p:txBody>
      </p:sp>
    </p:spTree>
    <p:extLst>
      <p:ext uri="{BB962C8B-B14F-4D97-AF65-F5344CB8AC3E}">
        <p14:creationId xmlns:p14="http://schemas.microsoft.com/office/powerpoint/2010/main" val="220894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70E169-7589-603D-BA3F-BA2844F369CD}"/>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extBox 1">
            <a:extLst>
              <a:ext uri="{FF2B5EF4-FFF2-40B4-BE49-F238E27FC236}">
                <a16:creationId xmlns:a16="http://schemas.microsoft.com/office/drawing/2014/main" id="{2955286A-31CD-DFAE-6BF7-12D3586216D6}"/>
              </a:ext>
            </a:extLst>
          </p:cNvPr>
          <p:cNvSpPr txBox="1"/>
          <p:nvPr/>
        </p:nvSpPr>
        <p:spPr>
          <a:xfrm>
            <a:off x="884419" y="1280679"/>
            <a:ext cx="4207253" cy="1325563"/>
          </a:xfrm>
          <a:prstGeom prst="rect">
            <a:avLst/>
          </a:prstGeom>
        </p:spPr>
        <p:txBody>
          <a:bodyPr vert="horz" lIns="91440" tIns="45720" rIns="91440" bIns="45720" rtlCol="0" anchor="b">
            <a:normAutofit/>
          </a:bodyPr>
          <a:lstStyle/>
          <a:p>
            <a:pPr algn="ctr" defTabSz="914400">
              <a:lnSpc>
                <a:spcPct val="90000"/>
              </a:lnSpc>
              <a:spcBef>
                <a:spcPct val="0"/>
              </a:spcBef>
              <a:spcAft>
                <a:spcPts val="600"/>
              </a:spcAft>
              <a:defRPr sz="3600" b="1">
                <a:solidFill>
                  <a:srgbClr val="003366"/>
                </a:solidFill>
              </a:defRPr>
            </a:pPr>
            <a:r>
              <a:rPr lang="en-US" sz="3100" kern="1200" dirty="0">
                <a:solidFill>
                  <a:schemeClr val="tx2"/>
                </a:solidFill>
                <a:latin typeface="+mj-lt"/>
                <a:ea typeface="+mj-ea"/>
                <a:cs typeface="+mj-cs"/>
              </a:rPr>
              <a:t>Feature List &amp; Benefits</a:t>
            </a:r>
            <a:endParaRPr lang="en-US" sz="3100" kern="1200" dirty="0">
              <a:solidFill>
                <a:schemeClr val="tx2"/>
              </a:solidFill>
              <a:latin typeface="+mj-lt"/>
              <a:ea typeface="Calibri"/>
              <a:cs typeface="Calibri"/>
            </a:endParaRPr>
          </a:p>
        </p:txBody>
      </p:sp>
      <p:grpSp>
        <p:nvGrpSpPr>
          <p:cNvPr id="26" name="Group 25">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7417" y="0"/>
            <a:ext cx="2926583" cy="2382977"/>
            <a:chOff x="6867015" y="-1"/>
            <a:chExt cx="5324985" cy="3251912"/>
          </a:xfrm>
          <a:solidFill>
            <a:schemeClr val="accent5">
              <a:alpha val="10000"/>
            </a:schemeClr>
          </a:solidFill>
        </p:grpSpPr>
        <p:sp>
          <p:nvSpPr>
            <p:cNvPr id="14" name="Freeform: Shape 13">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A781CD5E-4F50-85CB-F3EB-41F5B665626B}"/>
              </a:ext>
            </a:extLst>
          </p:cNvPr>
          <p:cNvSpPr txBox="1"/>
          <p:nvPr/>
        </p:nvSpPr>
        <p:spPr>
          <a:xfrm>
            <a:off x="884419" y="2890979"/>
            <a:ext cx="7375161" cy="2693976"/>
          </a:xfrm>
          <a:prstGeom prst="rect">
            <a:avLst/>
          </a:prstGeom>
        </p:spPr>
        <p:txBody>
          <a:bodyPr vert="horz" lIns="91440" tIns="45720" rIns="91440" bIns="45720" rtlCol="0" anchor="t">
            <a:noAutofit/>
          </a:bodyPr>
          <a:lstStyle/>
          <a:p>
            <a:pPr indent="-228600" defTabSz="914400">
              <a:lnSpc>
                <a:spcPct val="90000"/>
              </a:lnSpc>
              <a:spcAft>
                <a:spcPts val="600"/>
              </a:spcAft>
              <a:buFont typeface="Arial" panose="020B0604020202020204" pitchFamily="34" charset="0"/>
              <a:buChar char="•"/>
            </a:pPr>
            <a:endParaRPr lang="en-US" sz="1600">
              <a:solidFill>
                <a:schemeClr val="tx2"/>
              </a:solidFill>
            </a:endParaRPr>
          </a:p>
          <a:p>
            <a:pPr marL="457200" lvl="0" indent="-228600" defTabSz="914400">
              <a:lnSpc>
                <a:spcPct val="90000"/>
              </a:lnSpc>
              <a:spcAft>
                <a:spcPts val="600"/>
              </a:spcAft>
              <a:buFont typeface="Arial" panose="020B0604020202020204" pitchFamily="34" charset="0"/>
              <a:buChar char="•"/>
            </a:pPr>
            <a:r>
              <a:rPr lang="en-US" sz="2400" dirty="0">
                <a:solidFill>
                  <a:schemeClr val="tx2"/>
                </a:solidFill>
              </a:rPr>
              <a:t>Candidate Profile</a:t>
            </a:r>
            <a:endParaRPr lang="en-US" sz="2400" dirty="0">
              <a:solidFill>
                <a:schemeClr val="tx2"/>
              </a:solidFill>
              <a:ea typeface="Calibri"/>
              <a:cs typeface="Calibri"/>
            </a:endParaRPr>
          </a:p>
          <a:p>
            <a:pPr marL="457200" lvl="0" indent="-228600" defTabSz="914400">
              <a:lnSpc>
                <a:spcPct val="90000"/>
              </a:lnSpc>
              <a:spcAft>
                <a:spcPts val="600"/>
              </a:spcAft>
              <a:buFont typeface="Arial" panose="020B0604020202020204" pitchFamily="34" charset="0"/>
              <a:buChar char="•"/>
            </a:pPr>
            <a:r>
              <a:rPr lang="en-US" sz="2400" dirty="0">
                <a:solidFill>
                  <a:schemeClr val="tx2"/>
                </a:solidFill>
              </a:rPr>
              <a:t>Voter &amp; Volunteer Summary (infographic style)</a:t>
            </a:r>
            <a:endParaRPr lang="en-US" sz="2400" dirty="0">
              <a:solidFill>
                <a:schemeClr val="tx2"/>
              </a:solidFill>
              <a:ea typeface="Calibri"/>
              <a:cs typeface="Calibri"/>
            </a:endParaRPr>
          </a:p>
          <a:p>
            <a:pPr marL="457200" lvl="0" indent="-228600" defTabSz="914400">
              <a:lnSpc>
                <a:spcPct val="90000"/>
              </a:lnSpc>
              <a:spcAft>
                <a:spcPts val="600"/>
              </a:spcAft>
              <a:buFont typeface="Arial" panose="020B0604020202020204" pitchFamily="34" charset="0"/>
              <a:buChar char="•"/>
            </a:pPr>
            <a:r>
              <a:rPr lang="en-US" sz="2400" dirty="0">
                <a:solidFill>
                  <a:schemeClr val="tx2"/>
                </a:solidFill>
              </a:rPr>
              <a:t>Campaign Website Dashboard</a:t>
            </a:r>
            <a:endParaRPr lang="en-US" sz="2400" dirty="0">
              <a:solidFill>
                <a:schemeClr val="tx2"/>
              </a:solidFill>
              <a:ea typeface="Calibri"/>
              <a:cs typeface="Calibri"/>
            </a:endParaRPr>
          </a:p>
          <a:p>
            <a:pPr marL="457200" lvl="0" indent="-228600" defTabSz="914400">
              <a:lnSpc>
                <a:spcPct val="90000"/>
              </a:lnSpc>
              <a:spcAft>
                <a:spcPts val="600"/>
              </a:spcAft>
              <a:buFont typeface="Arial" panose="020B0604020202020204" pitchFamily="34" charset="0"/>
              <a:buChar char="•"/>
            </a:pPr>
            <a:r>
              <a:rPr lang="en-US" sz="2400">
                <a:solidFill>
                  <a:schemeClr val="tx2"/>
                </a:solidFill>
              </a:rPr>
              <a:t>Union-wise Map &amp; Vote Center View</a:t>
            </a:r>
            <a:endParaRPr lang="en-US" sz="2400">
              <a:solidFill>
                <a:schemeClr val="tx2"/>
              </a:solidFill>
              <a:ea typeface="Calibri"/>
              <a:cs typeface="Calibri"/>
            </a:endParaRPr>
          </a:p>
          <a:p>
            <a:pPr marL="457200" lvl="0" indent="-228600" defTabSz="914400">
              <a:lnSpc>
                <a:spcPct val="90000"/>
              </a:lnSpc>
              <a:spcAft>
                <a:spcPts val="600"/>
              </a:spcAft>
              <a:buFont typeface="Arial" panose="020B0604020202020204" pitchFamily="34" charset="0"/>
              <a:buChar char="•"/>
            </a:pPr>
            <a:r>
              <a:rPr lang="en-US" sz="2400" dirty="0">
                <a:solidFill>
                  <a:schemeClr val="tx2"/>
                </a:solidFill>
              </a:rPr>
              <a:t>Campaign Strategy &amp; Development Focus</a:t>
            </a:r>
            <a:endParaRPr lang="en-US" sz="2400" dirty="0">
              <a:solidFill>
                <a:schemeClr val="tx2"/>
              </a:solidFill>
              <a:ea typeface="Calibri"/>
              <a:cs typeface="Calibri"/>
            </a:endParaRPr>
          </a:p>
          <a:p>
            <a:pPr marL="457200" indent="-228600" defTabSz="914400">
              <a:lnSpc>
                <a:spcPct val="90000"/>
              </a:lnSpc>
              <a:spcAft>
                <a:spcPts val="600"/>
              </a:spcAft>
              <a:buFont typeface="Arial" panose="020B0604020202020204" pitchFamily="34" charset="0"/>
              <a:buChar char="•"/>
            </a:pPr>
            <a:r>
              <a:rPr lang="en-US" sz="2400" dirty="0">
                <a:solidFill>
                  <a:schemeClr val="tx2"/>
                </a:solidFill>
              </a:rPr>
              <a:t>Task management and SMS &amp; voice call integrated</a:t>
            </a:r>
            <a:endParaRPr lang="en-US" sz="2400" dirty="0">
              <a:solidFill>
                <a:schemeClr val="tx2"/>
              </a:solidFill>
              <a:ea typeface="Calibri"/>
              <a:cs typeface="Calibri"/>
            </a:endParaRPr>
          </a:p>
        </p:txBody>
      </p:sp>
      <p:grpSp>
        <p:nvGrpSpPr>
          <p:cNvPr id="19" name="Group 18">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174211" cy="2175328"/>
            <a:chOff x="-305" y="-1"/>
            <a:chExt cx="3832880" cy="2876136"/>
          </a:xfrm>
        </p:grpSpPr>
        <p:sp>
          <p:nvSpPr>
            <p:cNvPr id="28" name="Freeform: Shape 27">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345249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D450590-44FB-7375-CE79-9030B8C409E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1" name="Freeform: Shape 10">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2700" y="3984"/>
            <a:ext cx="7032474"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77550" y="3985"/>
            <a:ext cx="7329573" cy="6858000"/>
            <a:chOff x="1303402" y="36937"/>
            <a:chExt cx="9772765" cy="6858000"/>
          </a:xfrm>
          <a:solidFill>
            <a:schemeClr val="bg1">
              <a:alpha val="30000"/>
            </a:schemeClr>
          </a:solidFill>
        </p:grpSpPr>
        <p:sp>
          <p:nvSpPr>
            <p:cNvPr id="14" name="Freeform: Shape 13">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extBox 1">
            <a:extLst>
              <a:ext uri="{FF2B5EF4-FFF2-40B4-BE49-F238E27FC236}">
                <a16:creationId xmlns:a16="http://schemas.microsoft.com/office/drawing/2014/main" id="{A7FD08CB-D315-B1AB-F463-1A82D574B198}"/>
              </a:ext>
            </a:extLst>
          </p:cNvPr>
          <p:cNvSpPr txBox="1"/>
          <p:nvPr/>
        </p:nvSpPr>
        <p:spPr>
          <a:xfrm>
            <a:off x="2627048" y="1542402"/>
            <a:ext cx="3890131" cy="2387918"/>
          </a:xfrm>
          <a:prstGeom prst="rect">
            <a:avLst/>
          </a:prstGeom>
        </p:spPr>
        <p:txBody>
          <a:bodyPr vert="horz" lIns="91440" tIns="45720" rIns="91440" bIns="45720" rtlCol="0" anchor="b">
            <a:normAutofit/>
          </a:bodyPr>
          <a:lstStyle/>
          <a:p>
            <a:pPr algn="ctr" defTabSz="914400">
              <a:lnSpc>
                <a:spcPct val="90000"/>
              </a:lnSpc>
              <a:spcBef>
                <a:spcPct val="0"/>
              </a:spcBef>
              <a:spcAft>
                <a:spcPts val="600"/>
              </a:spcAft>
            </a:pPr>
            <a:endParaRPr lang="en-US" sz="3500" kern="1200">
              <a:solidFill>
                <a:schemeClr val="tx2"/>
              </a:solidFill>
              <a:latin typeface="+mj-lt"/>
              <a:ea typeface="+mj-ea"/>
              <a:cs typeface="+mj-cs"/>
            </a:endParaRPr>
          </a:p>
          <a:p>
            <a:pPr algn="ctr" defTabSz="914400">
              <a:lnSpc>
                <a:spcPct val="90000"/>
              </a:lnSpc>
              <a:spcBef>
                <a:spcPct val="0"/>
              </a:spcBef>
              <a:spcAft>
                <a:spcPts val="600"/>
              </a:spcAft>
              <a:defRPr sz="3600" b="1">
                <a:solidFill>
                  <a:srgbClr val="003366"/>
                </a:solidFill>
              </a:defRPr>
            </a:pPr>
            <a:r>
              <a:rPr lang="en-US" sz="3500" kern="1200" dirty="0">
                <a:solidFill>
                  <a:schemeClr val="tx2"/>
                </a:solidFill>
                <a:latin typeface="+mj-lt"/>
                <a:ea typeface="+mj-ea"/>
                <a:cs typeface="+mj-cs"/>
              </a:rPr>
              <a:t> </a:t>
            </a:r>
            <a:r>
              <a:rPr lang="en-US" sz="3600" kern="1200" dirty="0">
                <a:solidFill>
                  <a:schemeClr val="tx2"/>
                </a:solidFill>
                <a:latin typeface="+mj-lt"/>
                <a:ea typeface="+mj-ea"/>
                <a:cs typeface="+mj-cs"/>
              </a:rPr>
              <a:t>Thank You</a:t>
            </a:r>
            <a:endParaRPr lang="en-US" sz="3600" kern="1200">
              <a:solidFill>
                <a:schemeClr val="tx2"/>
              </a:solidFill>
              <a:latin typeface="+mj-lt"/>
              <a:ea typeface="Calibri"/>
              <a:cs typeface="Calibri"/>
            </a:endParaRPr>
          </a:p>
          <a:p>
            <a:pPr algn="ctr" defTabSz="914400">
              <a:lnSpc>
                <a:spcPct val="90000"/>
              </a:lnSpc>
              <a:spcBef>
                <a:spcPct val="0"/>
              </a:spcBef>
              <a:spcAft>
                <a:spcPts val="600"/>
              </a:spcAft>
              <a:defRPr sz="3600" b="1">
                <a:solidFill>
                  <a:srgbClr val="003366"/>
                </a:solidFill>
              </a:defRPr>
            </a:pPr>
            <a:r>
              <a:rPr lang="en-US" sz="1400" b="1" kern="1200" err="1">
                <a:solidFill>
                  <a:schemeClr val="tx2"/>
                </a:solidFill>
                <a:latin typeface="+mj-lt"/>
                <a:ea typeface="+mj-ea"/>
                <a:cs typeface="+mj-cs"/>
              </a:rPr>
              <a:t>জনগণের</a:t>
            </a:r>
            <a:r>
              <a:rPr lang="en-US" sz="1400" b="1" kern="1200" dirty="0">
                <a:solidFill>
                  <a:schemeClr val="tx2"/>
                </a:solidFill>
                <a:latin typeface="+mj-lt"/>
                <a:ea typeface="+mj-ea"/>
                <a:cs typeface="+mj-cs"/>
              </a:rPr>
              <a:t> </a:t>
            </a:r>
            <a:r>
              <a:rPr lang="en-US" sz="1400" b="1" kern="1200" err="1">
                <a:solidFill>
                  <a:schemeClr val="tx2"/>
                </a:solidFill>
                <a:latin typeface="+mj-lt"/>
                <a:ea typeface="+mj-ea"/>
                <a:cs typeface="+mj-cs"/>
              </a:rPr>
              <a:t>সেবা</a:t>
            </a:r>
            <a:r>
              <a:rPr lang="en-US" sz="1400" b="1" kern="1200" dirty="0">
                <a:solidFill>
                  <a:schemeClr val="tx2"/>
                </a:solidFill>
                <a:latin typeface="+mj-lt"/>
                <a:ea typeface="+mj-ea"/>
                <a:cs typeface="+mj-cs"/>
              </a:rPr>
              <a:t>, </a:t>
            </a:r>
            <a:r>
              <a:rPr lang="en-US" sz="1400" b="1" kern="1200" err="1">
                <a:solidFill>
                  <a:schemeClr val="tx2"/>
                </a:solidFill>
                <a:latin typeface="+mj-lt"/>
                <a:ea typeface="+mj-ea"/>
                <a:cs typeface="+mj-cs"/>
              </a:rPr>
              <a:t>উন্নয়নের</a:t>
            </a:r>
            <a:r>
              <a:rPr lang="en-US" sz="1400" b="1" kern="1200" dirty="0">
                <a:solidFill>
                  <a:schemeClr val="tx2"/>
                </a:solidFill>
                <a:latin typeface="+mj-lt"/>
                <a:ea typeface="+mj-ea"/>
                <a:cs typeface="+mj-cs"/>
              </a:rPr>
              <a:t> </a:t>
            </a:r>
            <a:r>
              <a:rPr lang="en-US" sz="1400" b="1" kern="1200" err="1">
                <a:solidFill>
                  <a:schemeClr val="tx2"/>
                </a:solidFill>
                <a:latin typeface="+mj-lt"/>
                <a:ea typeface="+mj-ea"/>
                <a:cs typeface="+mj-cs"/>
              </a:rPr>
              <a:t>অঙ্গীকার</a:t>
            </a:r>
            <a:endParaRPr lang="en-US" sz="1400" kern="1200" err="1">
              <a:solidFill>
                <a:schemeClr val="tx2"/>
              </a:solidFill>
              <a:latin typeface="+mj-lt"/>
              <a:ea typeface="Calibri"/>
              <a:cs typeface="Calibri"/>
            </a:endParaRPr>
          </a:p>
          <a:p>
            <a:pPr algn="ctr" defTabSz="914400">
              <a:lnSpc>
                <a:spcPct val="90000"/>
              </a:lnSpc>
              <a:spcBef>
                <a:spcPct val="0"/>
              </a:spcBef>
              <a:spcAft>
                <a:spcPts val="600"/>
              </a:spcAft>
              <a:defRPr sz="3600" b="1">
                <a:solidFill>
                  <a:srgbClr val="003366"/>
                </a:solidFill>
              </a:defRPr>
            </a:pPr>
            <a:endParaRPr lang="en-US" sz="3500" kern="1200">
              <a:solidFill>
                <a:schemeClr val="tx2"/>
              </a:solidFill>
              <a:latin typeface="+mj-lt"/>
              <a:ea typeface="+mj-ea"/>
              <a:cs typeface="+mj-cs"/>
            </a:endParaRPr>
          </a:p>
        </p:txBody>
      </p:sp>
      <p:grpSp>
        <p:nvGrpSpPr>
          <p:cNvPr id="22" name="Group 21">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8" y="-4155"/>
            <a:ext cx="1886210" cy="2174333"/>
            <a:chOff x="-305" y="-4155"/>
            <a:chExt cx="2514948" cy="2174333"/>
          </a:xfrm>
        </p:grpSpPr>
        <p:sp>
          <p:nvSpPr>
            <p:cNvPr id="23" name="Freeform: Shape 22">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6" name="Freeform: Shape 25">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8" name="Group 27">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7264295" y="4683666"/>
            <a:ext cx="1886211" cy="2174333"/>
            <a:chOff x="-305" y="-4155"/>
            <a:chExt cx="2514948" cy="2174333"/>
          </a:xfrm>
        </p:grpSpPr>
        <p:sp>
          <p:nvSpPr>
            <p:cNvPr id="29" name="Freeform: Shape 28">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2" name="Freeform: Shape 31">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2668389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26</TotalTime>
  <Words>68</Words>
  <Application>Microsoft Office PowerPoint</Application>
  <PresentationFormat>On-screen Show (4:3)</PresentationFormat>
  <Paragraphs>24</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Election Campaign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Mazharul Islam</cp:lastModifiedBy>
  <cp:revision>233</cp:revision>
  <dcterms:created xsi:type="dcterms:W3CDTF">2013-01-27T09:14:16Z</dcterms:created>
  <dcterms:modified xsi:type="dcterms:W3CDTF">2025-11-12T15:39:04Z</dcterms:modified>
  <cp:category/>
</cp:coreProperties>
</file>